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9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40080"/>
            <a:ext cx="658368" cy="658368"/>
          </a:xfrm>
          <a:prstGeom prst="ellipse">
            <a:avLst/>
          </a:prstGeom>
          <a:solidFill>
            <a:srgbClr val="4A86D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64008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31520" y="2240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4A8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RESPONSIBLE-AI ADOPTION PILOT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265176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Cultivating the future of legal practice in Chicago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13232" y="4114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Willkie Farr &amp; Gallagher  ·  Chicago Office  ·  A bounded 90-day training &amp; adoption pilot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5349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Alex Donnelly — Legal Tech &amp; AI Training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58368" y="1133856"/>
            <a:ext cx="548640" cy="45720"/>
          </a:xfrm>
          <a:prstGeom prst="rect">
            <a:avLst/>
          </a:prstGeom>
          <a:solidFill>
            <a:srgbClr val="4A86D6"/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1225296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already in the building. The question is whether people use it well — and safely.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EAF0F9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8424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tools are here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4892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Attorneys and staff are experimenting with GenAI already. A pilot turns scattered use into safe, supported practice.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178308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EAF0F9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198424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is a people problem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37960" y="2468880"/>
            <a:ext cx="4892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tools don't change habits on their own. Training, coaching, and trust are what make them stick.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393192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EAF0F9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1330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are asking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4617720"/>
            <a:ext cx="4892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Firms are being asked what their AI posture is. Doing this deliberately is now a competitive necessity.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63640" y="393192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EAF0F9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41330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small, prove it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37960" y="4617720"/>
            <a:ext cx="4892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group, one set of workflows, guardrails first — then expand on evidence, not hype.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200" y="6510528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Layer · Alex Donnelly   |   Independent work sample — fictional scope, illustrative figures; not affiliated with or endorsed by Willkie Farr &amp; Gallagher.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47572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goal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58368" y="1133856"/>
            <a:ext cx="548640" cy="45720"/>
          </a:xfrm>
          <a:prstGeom prst="rect">
            <a:avLst/>
          </a:prstGeom>
          <a:solidFill>
            <a:srgbClr val="4A86D6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5882"/>
            </a:avLst>
          </a:prstGeom>
          <a:solidFill>
            <a:srgbClr val="14294D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011680"/>
            <a:ext cx="10149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Help one Chicago practice group use approved AI tools confidently and safely — reducing friction and improving quality, without ever compromising confidentiality, accuracy, or professional judgment.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58368" y="37490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firmwide rollout. Not a tool demo. A bounded, measured pilot that builds a repeatable playbook for the rest of the firm.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Layer · Alex Donnelly   |   Independent work sample — fictional scope, illustrative figures; not affiliated with or endorsed by Willkie Farr &amp; Gallagher.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47572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non-negotiable principles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58368" y="1133856"/>
            <a:ext cx="548640" cy="45720"/>
          </a:xfrm>
          <a:prstGeom prst="rect">
            <a:avLst/>
          </a:prstGeom>
          <a:solidFill>
            <a:srgbClr val="4A86D6"/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1225296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in the pilot is measured against these — and the last one is absolute in a law firm.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EAF0F9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057400"/>
            <a:ext cx="457200" cy="457200"/>
          </a:xfrm>
          <a:prstGeom prst="ellipse">
            <a:avLst/>
          </a:prstGeom>
          <a:solidFill>
            <a:srgbClr val="1F4E9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208483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Low-risk first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2697480"/>
            <a:ext cx="3017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workflows where a mistake is caught early and easily, never client-facing filings unreviewed.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43400" y="182880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EAF0F9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2057400"/>
            <a:ext cx="457200" cy="457200"/>
          </a:xfrm>
          <a:prstGeom prst="ellipse">
            <a:avLst/>
          </a:prstGeom>
          <a:solidFill>
            <a:srgbClr val="1F4E9B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212080" y="208483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Human-reviewed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17720" y="2697480"/>
            <a:ext cx="3017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attorney owns every output. AI assists; it never decides. Verify against source, always.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46720" y="182880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EAF0F9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2057400"/>
            <a:ext cx="457200" cy="457200"/>
          </a:xfrm>
          <a:prstGeom prst="ellipse">
            <a:avLst/>
          </a:prstGeom>
          <a:solidFill>
            <a:srgbClr val="1F4E9B"/>
          </a:solidFill>
          <a:ln/>
        </p:spPr>
      </p:sp>
      <p:sp>
        <p:nvSpPr>
          <p:cNvPr id="17" name="Text 15"/>
          <p:cNvSpPr/>
          <p:nvPr/>
        </p:nvSpPr>
        <p:spPr>
          <a:xfrm>
            <a:off x="832104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915400" y="208483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21040" y="2697480"/>
            <a:ext cx="3017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before, measure after. If we can't show the change, we don't claim it.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487168" y="411480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EAF0F9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61488" y="4343400"/>
            <a:ext cx="457200" cy="457200"/>
          </a:xfrm>
          <a:prstGeom prst="ellipse">
            <a:avLst/>
          </a:prstGeom>
          <a:solidFill>
            <a:srgbClr val="1F4E9B"/>
          </a:solidFill>
          <a:ln/>
        </p:spPr>
      </p:sp>
      <p:sp>
        <p:nvSpPr>
          <p:cNvPr id="22" name="Text 20"/>
          <p:cNvSpPr/>
          <p:nvPr/>
        </p:nvSpPr>
        <p:spPr>
          <a:xfrm>
            <a:off x="2761488" y="4343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355848" y="437083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761488" y="4983480"/>
            <a:ext cx="3017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cycles, real feedback, adjust. Scale only what demonstrably works.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190488" y="411480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EAF0F9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64808" y="4343400"/>
            <a:ext cx="457200" cy="457200"/>
          </a:xfrm>
          <a:prstGeom prst="ellipse">
            <a:avLst/>
          </a:prstGeom>
          <a:solidFill>
            <a:srgbClr val="1F4E9B"/>
          </a:solidFill>
          <a:ln/>
        </p:spPr>
      </p:sp>
      <p:sp>
        <p:nvSpPr>
          <p:cNvPr id="27" name="Text 25"/>
          <p:cNvSpPr/>
          <p:nvPr/>
        </p:nvSpPr>
        <p:spPr>
          <a:xfrm>
            <a:off x="6464808" y="4343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059168" y="437083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&amp; confidential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464808" y="4983480"/>
            <a:ext cx="3017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tools only. No client or privileged data into anything unapproved. Data classification up front.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57200" y="6510528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Layer · Alex Donnelly   |   Independent work sample — fictional scope, illustrative figures; not affiliated with or endorsed by Willkie Farr &amp; Gallagher.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147572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— what's in, what's out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58368" y="1133856"/>
            <a:ext cx="548640" cy="45720"/>
          </a:xfrm>
          <a:prstGeom prst="rect">
            <a:avLst/>
          </a:prstGeom>
          <a:solidFill>
            <a:srgbClr val="4A86D6"/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1225296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tight boundary is what makes the pilot safe, measurable, and fair to evaluate.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EAF6EE"/>
          </a:solidFill>
          <a:ln w="12700">
            <a:solidFill>
              <a:srgbClr val="BFE3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48463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4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Chicago practice group + one champion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4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summarization &amp; first-pass review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4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drafting assistance (reviewed)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4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 Copilot for everyday work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4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training, onboarding &amp; coaching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4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Adoption, time, quality &amp; confidence metrics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FBECEC"/>
          </a:solidFill>
          <a:ln w="12700">
            <a:solidFill>
              <a:srgbClr val="F0C9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B4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 (for now)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46520" y="2514600"/>
            <a:ext cx="48463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4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Unreviewed client-facing filings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4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client or privileged data in unapproved tools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4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Firmwide rollout before evidence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4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/ agentic actions without a human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4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matter intake or billing systems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4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outside the approved stack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Layer · Alex Donnelly   |   Independent work sample — fictional scope, illustrative figures; not affiliated with or endorsed by Willkie Farr &amp; Gallagher.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47572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approved tech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58368" y="1133856"/>
            <a:ext cx="548640" cy="45720"/>
          </a:xfrm>
          <a:prstGeom prst="rect">
            <a:avLst/>
          </a:prstGeom>
          <a:solidFill>
            <a:srgbClr val="4A86D6"/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1225296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small, governed set of tools — each with a clear job and clear guardrails.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EAF0F9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74520"/>
            <a:ext cx="3520440" cy="128016"/>
          </a:xfrm>
          <a:prstGeom prst="rect">
            <a:avLst/>
          </a:prstGeom>
          <a:solidFill>
            <a:srgbClr val="4A86D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945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 Copilot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88036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drafting, summarizing, and search inside the tools people already use — Word, Outlook, Teams.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4892040"/>
            <a:ext cx="2971800" cy="0"/>
          </a:xfrm>
          <a:prstGeom prst="line">
            <a:avLst/>
          </a:prstGeom>
          <a:noFill/>
          <a:ln w="12700">
            <a:solidFill>
              <a:srgbClr val="D9E2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9834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F4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 tenant · data stays in-boundary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43400" y="187452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EAF0F9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3400" y="1874520"/>
            <a:ext cx="3520440" cy="128016"/>
          </a:xfrm>
          <a:prstGeom prst="rect">
            <a:avLst/>
          </a:prstGeom>
          <a:solidFill>
            <a:srgbClr val="4A86D6"/>
          </a:solidFill>
          <a:ln/>
        </p:spPr>
      </p:sp>
      <p:sp>
        <p:nvSpPr>
          <p:cNvPr id="13" name="Text 11"/>
          <p:cNvSpPr/>
          <p:nvPr/>
        </p:nvSpPr>
        <p:spPr>
          <a:xfrm>
            <a:off x="4617720" y="21945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Filevine Lois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17720" y="288036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Matter-aware assistance on documents and records within the case-management system.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17720" y="4892040"/>
            <a:ext cx="2971800" cy="0"/>
          </a:xfrm>
          <a:prstGeom prst="line">
            <a:avLst/>
          </a:prstGeom>
          <a:noFill/>
          <a:ln w="12700">
            <a:solidFill>
              <a:srgbClr val="D9E2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49834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F4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output · matter-scoped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46720" y="187452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EAF0F9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0" y="1874520"/>
            <a:ext cx="3520440" cy="128016"/>
          </a:xfrm>
          <a:prstGeom prst="rect">
            <a:avLst/>
          </a:prstGeom>
          <a:solidFill>
            <a:srgbClr val="4A86D6"/>
          </a:solidFill>
          <a:ln/>
        </p:spPr>
      </p:sp>
      <p:sp>
        <p:nvSpPr>
          <p:cNvPr id="19" name="Text 17"/>
          <p:cNvSpPr/>
          <p:nvPr/>
        </p:nvSpPr>
        <p:spPr>
          <a:xfrm>
            <a:off x="8321040" y="21945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(approved workspace)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21040" y="288036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Higher-order drafting, analysis, and reasoning for non-privileged work, with human review.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321040" y="4892040"/>
            <a:ext cx="2971800" cy="0"/>
          </a:xfrm>
          <a:prstGeom prst="line">
            <a:avLst/>
          </a:prstGeom>
          <a:noFill/>
          <a:ln w="12700">
            <a:solidFill>
              <a:srgbClr val="D9E2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21040" y="49834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F4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client/privileged data · verified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510528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Layer · Alex Donnelly   |   Independent work sample — fictional scope, illustrative figures; not affiliated with or endorsed by Willkie Farr &amp; Gallagher.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47572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built for each role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58368" y="1133856"/>
            <a:ext cx="548640" cy="45720"/>
          </a:xfrm>
          <a:prstGeom prst="rect">
            <a:avLst/>
          </a:prstGeom>
          <a:solidFill>
            <a:srgbClr val="4A86D6"/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1225296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firm is not one audience. Adoption fails on one broad session — so training is role-specific and hands-on.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881360" cy="1024128"/>
          </a:xfrm>
          <a:prstGeom prst="roundRect">
            <a:avLst>
              <a:gd name="adj" fmla="val 5357"/>
            </a:avLst>
          </a:prstGeom>
          <a:solidFill>
            <a:srgbClr val="EAF0F9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783080"/>
            <a:ext cx="146304" cy="1024128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783080"/>
            <a:ext cx="28346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931920" y="1783080"/>
            <a:ext cx="73152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value, risk, and client implications — short, high-level, decision-focused.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898648"/>
            <a:ext cx="1088136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898648"/>
            <a:ext cx="146304" cy="1024128"/>
          </a:xfrm>
          <a:prstGeom prst="rect">
            <a:avLst/>
          </a:prstGeom>
          <a:solidFill>
            <a:srgbClr val="1F4E9B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898648"/>
            <a:ext cx="28346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931920" y="2898648"/>
            <a:ext cx="73152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research, drafting, and analysis — with verification habits built in from day one.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014216"/>
            <a:ext cx="10881360" cy="1024128"/>
          </a:xfrm>
          <a:prstGeom prst="roundRect">
            <a:avLst>
              <a:gd name="adj" fmla="val 5357"/>
            </a:avLst>
          </a:prstGeom>
          <a:solidFill>
            <a:srgbClr val="EAF0F9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4014216"/>
            <a:ext cx="146304" cy="1024128"/>
          </a:xfrm>
          <a:prstGeom prst="rect">
            <a:avLst/>
          </a:prstGeom>
          <a:solidFill>
            <a:srgbClr val="4A86D6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014216"/>
            <a:ext cx="28346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Paralegals &amp; case managers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931920" y="4014216"/>
            <a:ext cx="73152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volume work: summarizing, organizing, first-pass review — practical, repeatable workflows.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5129784"/>
            <a:ext cx="1088136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5129784"/>
            <a:ext cx="146304" cy="102412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5129784"/>
            <a:ext cx="28346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 staff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931920" y="5129784"/>
            <a:ext cx="73152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new workflows change day-to-day tasks — clear, confidence-building onboarding.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Layer · Alex Donnelly   |   Independent work sample — fictional scope, illustrative figures; not affiliated with or endorsed by Willkie Farr &amp; Gallagher.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47572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phased 90 days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58368" y="1133856"/>
            <a:ext cx="548640" cy="45720"/>
          </a:xfrm>
          <a:prstGeom prst="rect">
            <a:avLst/>
          </a:prstGeom>
          <a:solidFill>
            <a:srgbClr val="4A86D6"/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1225296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first, then hands-on enablement, then supported practice, then an evidence-based decision.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14294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48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8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 &amp; guardrails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5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alignment, approved-tool scope, data-handling rules, baselines set.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182112" y="310896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8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429000" y="192024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14294D"/>
          </a:solidFill>
          <a:ln/>
        </p:spPr>
      </p:sp>
      <p:sp>
        <p:nvSpPr>
          <p:cNvPr id="11" name="Text 9"/>
          <p:cNvSpPr/>
          <p:nvPr/>
        </p:nvSpPr>
        <p:spPr>
          <a:xfrm>
            <a:off x="3611880" y="2148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8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3–4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11880" y="25603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Onboarding &amp; workshops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11880" y="338328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5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hands-on sessions: prompting, verifying, citing, when to escalate.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971032" y="310896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8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217920" y="192024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14294D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2148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8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5–10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0" y="25603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Supported use &amp; coaching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00800" y="338328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5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work in real matters with desk-side coaching, office hours, and a champion.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759952" y="310896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8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9006840" y="192024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14294D"/>
          </a:solidFill>
          <a:ln/>
        </p:spPr>
      </p:sp>
      <p:sp>
        <p:nvSpPr>
          <p:cNvPr id="21" name="Text 19"/>
          <p:cNvSpPr/>
          <p:nvPr/>
        </p:nvSpPr>
        <p:spPr>
          <a:xfrm>
            <a:off x="9189720" y="2148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8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11–13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89720" y="25603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 &amp; decide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189720" y="338328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5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against baseline, capture what worked, recommend expand / adjust / stop.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Layer · Alex Donnelly   |   Independent work sample — fictional scope, illustrative figures; not affiliated with or endorsed by Willkie Farr &amp; Gallagher.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47572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measure value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58368" y="1133856"/>
            <a:ext cx="548640" cy="45720"/>
          </a:xfrm>
          <a:prstGeom prst="rect">
            <a:avLst/>
          </a:prstGeom>
          <a:solidFill>
            <a:srgbClr val="4A86D6"/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1225296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before, measure after — across adoption, value, quality, and risk. Illustrative targets.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EAF0F9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28600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E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90%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04672" y="32004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active users in the cohort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29000" y="192024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EAF0F9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228600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E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3–5 hrs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593592" y="32004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returned per person / week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92024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EAF0F9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228600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E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382512" y="32004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verified against source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006840" y="192024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EAF0F9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98280" y="228600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E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↑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171432" y="32004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Self-reported confidence with the tools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52628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FF7EC"/>
          </a:solidFill>
          <a:ln w="12700">
            <a:solidFill>
              <a:srgbClr val="F0D9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66344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Watched throughout: misuse, hallucination, and confidentiality signals — logged and routed to the right people early, not after the fact.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Layer · Alex Donnelly   |   Independent work sample — fictional scope, illustrative figures; not affiliated with or endorsed by Willkie Farr &amp; Gallagher.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47572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9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943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04088" y="1371600"/>
            <a:ext cx="548640" cy="45720"/>
          </a:xfrm>
          <a:prstGeom prst="rect">
            <a:avLst/>
          </a:prstGeom>
          <a:solidFill>
            <a:srgbClr val="4A86D6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1F4E9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17320" y="17830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8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group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754880" y="178308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5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willing Chicago practice group and one champion to pilot with.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2834640"/>
            <a:ext cx="457200" cy="457200"/>
          </a:xfrm>
          <a:prstGeom prst="ellipse">
            <a:avLst/>
          </a:prstGeom>
          <a:solidFill>
            <a:srgbClr val="1F4E9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17320" y="27889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8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stack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754880" y="278892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5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 on approved tools and the data-handling guardrails.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77240" y="3840480"/>
            <a:ext cx="457200" cy="457200"/>
          </a:xfrm>
          <a:prstGeom prst="ellipse">
            <a:avLst/>
          </a:prstGeom>
          <a:solidFill>
            <a:srgbClr val="1F4E9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17320" y="37947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8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us 90 days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754880" y="379476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5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bounded window to train, support, measure — and report back with evidence.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77240" y="4846320"/>
            <a:ext cx="457200" cy="457200"/>
          </a:xfrm>
          <a:prstGeom prst="ellipse">
            <a:avLst/>
          </a:prstGeom>
          <a:solidFill>
            <a:srgbClr val="1F4E9B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846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4800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8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decide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754880" y="48006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5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Expand, adjust, or stop — based on what the data actually shows.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3152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Donnelly  ·  a.james.donnelly@gmail.com  ·  ajdonnelly.github.io/willkie-legal-tech-training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2026-07-01T23:56:48Z</dcterms:created>
  <dcterms:modified xsi:type="dcterms:W3CDTF">2026-07-01T23:56:48Z</dcterms:modified>
</cp:coreProperties>
</file>